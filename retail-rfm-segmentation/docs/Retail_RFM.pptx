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6B1E2E">
                <a:alpha val="100000"/>
              </a:srgb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6B1E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Raw file</c:v>
                </c:pt>
                <c:pt idx="1">
                  <c:v>Numeric invoices</c:v>
                </c:pt>
                <c:pt idx="2">
                  <c:v>+ Customer / Qty / Price / Product</c:v>
                </c:pt>
                <c:pt idx="3">
                  <c:v>+ De-duplicated (clean_retail)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1067371</c:v>
                </c:pt>
                <c:pt idx="1">
                  <c:v>1047871</c:v>
                </c:pt>
                <c:pt idx="2">
                  <c:v>802632</c:v>
                </c:pt>
                <c:pt idx="3">
                  <c:v>776577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30-49BB-AFF7-8843CE9CB1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534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497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4E1521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200400"/>
            <a:ext cx="2926080" cy="2926080"/>
          </a:xfrm>
          <a:prstGeom prst="ellipse">
            <a:avLst/>
          </a:prstGeom>
          <a:solidFill>
            <a:srgbClr val="4E152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73" y="574353"/>
            <a:ext cx="408188" cy="4081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56692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D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 ·  BUSINESS INTELLIGENCE TRACK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32588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Customer</a:t>
            </a:r>
            <a:endParaRPr lang="en-US" sz="40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RFM Segmentation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" y="297180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A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project walkthrough — from raw transactions to a live dashboard and a retention-budget recommendation.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 </a:t>
            </a:r>
            <a:r>
              <a:rPr lang="en-US" sz="1200" dirty="0">
                <a:solidFill>
                  <a:srgbClr val="E7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SQL data prep → RFM scoring → Power BI → published portfolio piece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7432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IN ONE PAGE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delivers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697480" cy="1627632"/>
          </a:xfrm>
          <a:prstGeom prst="roundRect">
            <a:avLst>
              <a:gd name="adj" fmla="val 4494"/>
            </a:avLst>
          </a:prstGeom>
          <a:solidFill>
            <a:srgbClr val="F7EFE8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" y="1474927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2728" y="145389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04088" y="1984248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retailer has a FIXED retention budget — which customers should receive it before they churn?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55848" y="1234440"/>
            <a:ext cx="2697480" cy="1627632"/>
          </a:xfrm>
          <a:prstGeom prst="roundRect">
            <a:avLst>
              <a:gd name="adj" fmla="val 4494"/>
            </a:avLst>
          </a:prstGeom>
          <a:solidFill>
            <a:srgbClr val="FBF6F1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38728" y="141732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6335" y="1474927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05656" y="145389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57016" y="1984248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valuable-but-slipping (At Risk); skip loyal Champions and fully-lapsed customers.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08776" y="1234440"/>
            <a:ext cx="2697480" cy="1627632"/>
          </a:xfrm>
          <a:prstGeom prst="roundRect">
            <a:avLst>
              <a:gd name="adj" fmla="val 4494"/>
            </a:avLst>
          </a:prstGeom>
          <a:solidFill>
            <a:srgbClr val="F7EFE8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91656" y="141732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9263" y="1474927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58584" y="145389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9944" y="1984248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Online Retail II — a UK gift retailer, ~1.07M line items, Dec 2009 – Dec 2011.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920" y="3008376"/>
            <a:ext cx="2697480" cy="1627632"/>
          </a:xfrm>
          <a:prstGeom prst="roundRect">
            <a:avLst>
              <a:gd name="adj" fmla="val 4494"/>
            </a:avLst>
          </a:prstGeom>
          <a:solidFill>
            <a:srgbClr val="FBF6F1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3191256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07" y="3248863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52728" y="3227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04088" y="3758184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CRISP-DM. Rules-based RFM (Recency, Frequency, Monetary) — descriptive, not ML.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355848" y="3008376"/>
            <a:ext cx="2697480" cy="1627632"/>
          </a:xfrm>
          <a:prstGeom prst="roundRect">
            <a:avLst>
              <a:gd name="adj" fmla="val 4494"/>
            </a:avLst>
          </a:prstGeom>
          <a:solidFill>
            <a:srgbClr val="F7EFE8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538728" y="3191256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6335" y="3248863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05656" y="3227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3557016" y="3758184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DBeaver for the SQL pipeline; Power BI (live-connected) for the dashboard.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08776" y="3008376"/>
            <a:ext cx="2697480" cy="1627632"/>
          </a:xfrm>
          <a:prstGeom prst="roundRect">
            <a:avLst>
              <a:gd name="adj" fmla="val 4494"/>
            </a:avLst>
          </a:prstGeom>
          <a:solidFill>
            <a:srgbClr val="FBF6F1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91656" y="3191256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9263" y="3248863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58584" y="32278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6409944" y="3758184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segmented customer table + dashboard driving a concrete budget-allocation recommendation.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7432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CRISP-DM — the full arc, complete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6B1E2E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737360"/>
            <a:ext cx="512064" cy="5120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30428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D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20240" y="155448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6B1E2E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13432" y="1737360"/>
            <a:ext cx="512064" cy="5120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1" name="Text 9"/>
          <p:cNvSpPr/>
          <p:nvPr/>
        </p:nvSpPr>
        <p:spPr>
          <a:xfrm>
            <a:off x="2313432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965960" y="230428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65960" y="265176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D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37560" y="155448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6B1E2E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30752" y="1737360"/>
            <a:ext cx="512064" cy="5120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6" name="Text 14"/>
          <p:cNvSpPr/>
          <p:nvPr/>
        </p:nvSpPr>
        <p:spPr>
          <a:xfrm>
            <a:off x="3730752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83280" y="230428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83280" y="265176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D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55448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6B1E2E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48072" y="1737360"/>
            <a:ext cx="512064" cy="5120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1" name="Text 19"/>
          <p:cNvSpPr/>
          <p:nvPr/>
        </p:nvSpPr>
        <p:spPr>
          <a:xfrm>
            <a:off x="5148072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00600" y="230428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(RFM)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265176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D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155448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6B1E2E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65392" y="1737360"/>
            <a:ext cx="512064" cy="5120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6" name="Text 24"/>
          <p:cNvSpPr/>
          <p:nvPr/>
        </p:nvSpPr>
        <p:spPr>
          <a:xfrm>
            <a:off x="6565392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217920" y="230428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(recommendation)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265176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D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89520" y="155448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6B1E2E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82712" y="1737360"/>
            <a:ext cx="512064" cy="5120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1" name="Text 29"/>
          <p:cNvSpPr/>
          <p:nvPr/>
        </p:nvSpPr>
        <p:spPr>
          <a:xfrm>
            <a:off x="7982712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635240" y="2304288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(Power BI)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635240" y="265176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D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3246120"/>
            <a:ext cx="8138160" cy="1234440"/>
          </a:xfrm>
          <a:prstGeom prst="roundRect">
            <a:avLst>
              <a:gd name="adj" fmla="val 5926"/>
            </a:avLst>
          </a:prstGeom>
          <a:solidFill>
            <a:srgbClr val="FBF6F1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5800" y="3456432"/>
            <a:ext cx="502920" cy="502920"/>
          </a:xfrm>
          <a:prstGeom prst="ellipse">
            <a:avLst/>
          </a:prstGeom>
          <a:solidFill>
            <a:srgbClr val="6B1E2E"/>
          </a:solidFill>
          <a:ln/>
        </p:spPr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68" y="3519800"/>
            <a:ext cx="362102" cy="36210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325880" y="340156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phase delivered — and validated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1325880" y="3785616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1.07M raw rows were cleaned to 776,577, aggregated to 5,852 scored &amp; segmented customers, and surfaced in a live Power BI dashboard ending in a budget recommendation — each stage checked against a known number.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7432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BUSINESS UNDERSTANDING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decision: where to spend a fixed budget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the retention budget evenly is wasteful.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customers stay regardless; some are already gone; some are on the fence. The budget should chase only the third group.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251460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r>
              <a:rPr lang="en-US" sz="12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retaining a customer is far cheaper than acquiring one, and revenue is concentrated in a small share of buyers. The win is a decision — allocating a scarce resource where it changes the outcome.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26280" y="1280160"/>
            <a:ext cx="4114800" cy="932688"/>
          </a:xfrm>
          <a:prstGeom prst="roundRect">
            <a:avLst>
              <a:gd name="adj" fmla="val 7843"/>
            </a:avLst>
          </a:prstGeom>
          <a:solidFill>
            <a:srgbClr val="F7EFE8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27448" y="1389888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Champions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27448" y="1682496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5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Recent, frequent, high-spend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27448" y="1938528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— they'll buy anyway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2340864"/>
            <a:ext cx="4114800" cy="932688"/>
          </a:xfrm>
          <a:prstGeom prst="roundRect">
            <a:avLst>
              <a:gd name="adj" fmla="val 7843"/>
            </a:avLst>
          </a:prstGeom>
          <a:solidFill>
            <a:srgbClr val="6B1E2E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27448" y="2450592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At-Risk / valuable-but-slipping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27448" y="274320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AD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past value, fading recency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27448" y="2999232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HERE — winnable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26280" y="3401568"/>
            <a:ext cx="4114800" cy="932688"/>
          </a:xfrm>
          <a:prstGeom prst="roundRect">
            <a:avLst>
              <a:gd name="adj" fmla="val 7843"/>
            </a:avLst>
          </a:prstGeom>
          <a:solidFill>
            <a:srgbClr val="F7EFE8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27448" y="3511296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 / low-value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27448" y="3803904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5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gone or tiny spend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27448" y="4059936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— not worth the cost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7432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CONCEPT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RFM — three numbers from purchase history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formalises what a shopkeeper already knows about their regulars — who bought recently, who buys often, who spends big — so it scales to thousands of customers.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F7EFE8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1975104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" y="2032711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9385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Recency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788920" y="1965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the last purchase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08192" y="1828800"/>
            <a:ext cx="2532888" cy="749808"/>
          </a:xfrm>
          <a:prstGeom prst="roundRect">
            <a:avLst>
              <a:gd name="adj" fmla="val 9756"/>
            </a:avLst>
          </a:prstGeom>
          <a:solidFill>
            <a:srgbClr val="FBF6F1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36208" y="19202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Reversed — FEWER days is better (recent = engaged)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2920" y="2706624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F7EFE8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7512" y="2852928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" y="2910535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80160" y="28163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788920" y="284378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DISTINCT invoices (orders)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108192" y="2706624"/>
            <a:ext cx="2532888" cy="749808"/>
          </a:xfrm>
          <a:prstGeom prst="roundRect">
            <a:avLst>
              <a:gd name="adj" fmla="val 9756"/>
            </a:avLst>
          </a:prstGeom>
          <a:solidFill>
            <a:srgbClr val="FBF6F1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236208" y="27980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is better (loyal / habitual buyer)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02920" y="3584448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F7EFE8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67512" y="3730752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" y="3788359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80160" y="369417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Monetary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2788920" y="372160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money spent (SUM of qty × price)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108192" y="3584448"/>
            <a:ext cx="2532888" cy="749808"/>
          </a:xfrm>
          <a:prstGeom prst="roundRect">
            <a:avLst>
              <a:gd name="adj" fmla="val 9756"/>
            </a:avLst>
          </a:prstGeom>
          <a:solidFill>
            <a:srgbClr val="FBF6F1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6236208" y="36758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is better (high-value customer)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02920" y="4407408"/>
            <a:ext cx="8138160" cy="512064"/>
          </a:xfrm>
          <a:prstGeom prst="roundRect">
            <a:avLst>
              <a:gd name="adj" fmla="val 10714"/>
            </a:avLst>
          </a:prstGeom>
          <a:solidFill>
            <a:srgbClr val="6B1E2E"/>
          </a:solidFill>
          <a:ln/>
        </p:spPr>
      </p:sp>
      <p:sp>
        <p:nvSpPr>
          <p:cNvPr id="27" name="Text 22"/>
          <p:cNvSpPr/>
          <p:nvPr/>
        </p:nvSpPr>
        <p:spPr>
          <a:xfrm>
            <a:off x="685800" y="4407408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Rules-based, not ML:  </a:t>
            </a:r>
            <a:r>
              <a:rPr lang="en-US" sz="1100" dirty="0">
                <a:solidFill>
                  <a:srgbClr val="F0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score thresholds (e.g. R≥4 &amp; F≥4 → Champion) — transparent and defensible; you can always explain why a customer is in a segment.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7432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IT CONCRETE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snapshot date 2011-12-10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18288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order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F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2011-12-05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£2,400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5 5 5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Champion — skip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6B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0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6B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2011-05-24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0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6B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0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6B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0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6B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£1,800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0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6B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2 4 4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0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6B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 —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0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2011-12-07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5 1 1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— nurture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794760"/>
            <a:ext cx="8138160" cy="960120"/>
          </a:xfrm>
          <a:prstGeom prst="roundRect">
            <a:avLst>
              <a:gd name="adj" fmla="val 7619"/>
            </a:avLst>
          </a:prstGeom>
          <a:solidFill>
            <a:srgbClr val="6B1E2E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4005072"/>
            <a:ext cx="502920" cy="50292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68" y="4068440"/>
            <a:ext cx="362102" cy="3621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3913632"/>
            <a:ext cx="7178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budget goes to Bob. </a:t>
            </a:r>
            <a:r>
              <a:rPr lang="en-US" sz="1200" dirty="0">
                <a:solidFill>
                  <a:srgbClr val="F0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was excellent (8 orders, £1,800) but his recency has collapsed to ~200 days — winnable if reached in time. Alice buys anyway; Carol is too new. RFM's job is to surface the Bobs.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7432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DATA UNDERSTANDING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— profiled before any SQL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975104" cy="1234440"/>
          </a:xfrm>
          <a:prstGeom prst="roundRect">
            <a:avLst>
              <a:gd name="adj" fmla="val 5926"/>
            </a:avLst>
          </a:prstGeom>
          <a:solidFill>
            <a:srgbClr val="F7EFE8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99616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1,067,371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21031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5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line-item rows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96896" y="1280160"/>
            <a:ext cx="1975104" cy="1234440"/>
          </a:xfrm>
          <a:prstGeom prst="roundRect">
            <a:avLst>
              <a:gd name="adj" fmla="val 5926"/>
            </a:avLst>
          </a:prstGeom>
          <a:solidFill>
            <a:srgbClr val="F7EFE8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42616" y="1499616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688336" y="21031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5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(all text on load)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90872" y="1280160"/>
            <a:ext cx="1975104" cy="1234440"/>
          </a:xfrm>
          <a:prstGeom prst="roundRect">
            <a:avLst>
              <a:gd name="adj" fmla="val 5926"/>
            </a:avLst>
          </a:prstGeom>
          <a:solidFill>
            <a:srgbClr val="F7EFE8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36592" y="1499616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5,942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82312" y="21031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5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customers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84848" y="1280160"/>
            <a:ext cx="1975104" cy="1234440"/>
          </a:xfrm>
          <a:prstGeom prst="roundRect">
            <a:avLst>
              <a:gd name="adj" fmla="val 5926"/>
            </a:avLst>
          </a:prstGeom>
          <a:solidFill>
            <a:srgbClr val="6B1E2E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30568" y="1499616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2011-12-10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76288" y="21031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D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date (Recency anchor)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788920"/>
            <a:ext cx="8138160" cy="1737360"/>
          </a:xfrm>
          <a:prstGeom prst="roundRect">
            <a:avLst>
              <a:gd name="adj" fmla="val 4211"/>
            </a:avLst>
          </a:prstGeom>
          <a:solidFill>
            <a:srgbClr val="FBF6F1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2999232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" y="3056839"/>
            <a:ext cx="329184" cy="32918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80160" y="30175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Facts that shaped every later decision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68680" y="3456432"/>
            <a:ext cx="7635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Grain: </a:t>
            </a:r>
            <a:r>
              <a:rPr lang="en-US" sz="11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= one product line, not one order → Frequency counts distinct invoices.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date: </a:t>
            </a:r>
            <a:r>
              <a:rPr lang="en-US" sz="11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ends 2011-12-09, so Recency is measured against 2011-12-10 — never “today.”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 quirk: </a:t>
            </a:r>
            <a:r>
              <a:rPr lang="en-US" sz="11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a float string “13085.0” → forces text staging + a two-step cast.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limit: </a:t>
            </a:r>
            <a:r>
              <a:rPr lang="en-US" sz="11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15.4% of revenue sits on rows with no customer — unscorable, documented.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7432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DATA QUALITY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Issues found in the raw data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8138160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Magnitude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Cleaning 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6B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Customer 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243,007  (22.8%)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 — RFM is per-customer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6B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Cancellations (invoice 'C')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19,494  (1.8%)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6B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Adjustment invoices ('A')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6B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/ negative price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— distorts Monetary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6B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Non-product stock codes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6,093  (POST, DOT, M…)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— keep digit-led codes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6B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duplicate 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34,335  (3.2%)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— double-logging artifacts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498848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6B1E2E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4498848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 </a:t>
            </a:r>
            <a:r>
              <a:rPr lang="en-US" sz="1050" dirty="0">
                <a:solidFill>
                  <a:srgbClr val="F0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first (in Python) to attach real magnitudes to every issue — so “cleaning steps” become concrete, checkable rules with predicted counts.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7432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DATA PREPARATION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cleaning funnel — a validation tool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325880"/>
          <a:ext cx="52578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32588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7EFE8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126480" y="150876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087" y="1566367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93408" y="15270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funnel?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144768" y="2084832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filter's row drop was predicted in Python first.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when the SQL returns the SAME number, the rule is proven correct — not just plausible.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</a:t>
            </a:r>
            <a:r>
              <a:rPr lang="en-US" sz="11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776,577 rows kept (72.8%), covering 5,852 of 5,942 customers.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7432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SQL PIPELINE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tables — raw → clean → customer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487168" cy="2286000"/>
          </a:xfrm>
          <a:prstGeom prst="roundRect">
            <a:avLst>
              <a:gd name="adj" fmla="val 3200"/>
            </a:avLst>
          </a:prstGeom>
          <a:solidFill>
            <a:srgbClr val="F7EFE8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6192" y="1691640"/>
            <a:ext cx="512064" cy="512064"/>
          </a:xfrm>
          <a:prstGeom prst="ellipse">
            <a:avLst/>
          </a:prstGeom>
          <a:solidFill>
            <a:srgbClr val="6B1E2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712" y="1756160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33172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staging_retail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67004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1,067,371 rows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3232" y="299923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5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loaded as-is, every column TEXT. A landing zone that can't fail on messy values.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054096" y="2286000"/>
            <a:ext cx="466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3538728" y="1463040"/>
            <a:ext cx="2487168" cy="2286000"/>
          </a:xfrm>
          <a:prstGeom prst="roundRect">
            <a:avLst>
              <a:gd name="adj" fmla="val 3200"/>
            </a:avLst>
          </a:prstGeom>
          <a:solidFill>
            <a:srgbClr val="F7EFE8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6280" y="1691640"/>
            <a:ext cx="512064" cy="512064"/>
          </a:xfrm>
          <a:prstGeom prst="ellipse">
            <a:avLst/>
          </a:prstGeom>
          <a:solidFill>
            <a:srgbClr val="6B1E2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800" y="1756160"/>
            <a:ext cx="368686" cy="36868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0168" y="233172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clean_retail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30168" y="267004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776,577 rows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703320" y="299923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5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validated cleaning rules + type casts, built with CREATE TABLE AS. Correctly typed.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044184" y="2286000"/>
            <a:ext cx="466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6528816" y="1463040"/>
            <a:ext cx="2487168" cy="2286000"/>
          </a:xfrm>
          <a:prstGeom prst="roundRect">
            <a:avLst>
              <a:gd name="adj" fmla="val 3200"/>
            </a:avLst>
          </a:prstGeom>
          <a:solidFill>
            <a:srgbClr val="6B1E2E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516368" y="1691640"/>
            <a:ext cx="512064" cy="512064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0888" y="1756160"/>
            <a:ext cx="368686" cy="36868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20256" y="233172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customer_rfm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620256" y="267004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5,852 customers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693408" y="299923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EAD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customer: R/F/M values, 1–5 scores, and a segment label. The dashboard source.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48640" y="3977640"/>
            <a:ext cx="8092440" cy="658368"/>
          </a:xfrm>
          <a:prstGeom prst="roundRect">
            <a:avLst>
              <a:gd name="adj" fmla="val 11111"/>
            </a:avLst>
          </a:prstGeom>
          <a:solidFill>
            <a:srgbClr val="FBF6F1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77240" y="397764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at every hop:  </a:t>
            </a:r>
            <a:r>
              <a:rPr lang="en-US" sz="11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table's row count was checked against a known number before building the next — 1,067,371 → 776,577 → 5,852.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7432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USED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SQL toolkit, by concept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697480" cy="1572768"/>
          </a:xfrm>
          <a:prstGeom prst="roundRect">
            <a:avLst>
              <a:gd name="adj" fmla="val 4651"/>
            </a:avLst>
          </a:prstGeom>
          <a:solidFill>
            <a:srgbClr val="F7EFE8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438912" cy="438912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03" y="1472623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16152" y="14356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Casting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4088" y="1929384"/>
            <a:ext cx="2295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value::type turns text into numbers/dates. “13085.0” needs ::numeric::integer.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55848" y="1234440"/>
            <a:ext cx="2697480" cy="1572768"/>
          </a:xfrm>
          <a:prstGeom prst="roundRect">
            <a:avLst>
              <a:gd name="adj" fmla="val 4651"/>
            </a:avLst>
          </a:prstGeom>
          <a:solidFill>
            <a:srgbClr val="FBF6F1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38728" y="1417320"/>
            <a:ext cx="438912" cy="438912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4031" y="1472623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9080" y="14356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+ regex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57016" y="1929384"/>
            <a:ext cx="2295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rows. ~ matches a regex: ^[0-9]+$ (all digits) vs ^[0-9] (starts with digit).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08776" y="1234440"/>
            <a:ext cx="2697480" cy="1572768"/>
          </a:xfrm>
          <a:prstGeom prst="roundRect">
            <a:avLst>
              <a:gd name="adj" fmla="val 4651"/>
            </a:avLst>
          </a:prstGeom>
          <a:solidFill>
            <a:srgbClr val="F7EFE8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91656" y="1417320"/>
            <a:ext cx="438912" cy="438912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959" y="1472623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22008" y="14356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BY + aggregates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9944" y="1929384"/>
            <a:ext cx="2295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rows to one per group. Frequency = COUNT(DISTINCT invoice), not COUNT(*).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2944368"/>
            <a:ext cx="2697480" cy="1572768"/>
          </a:xfrm>
          <a:prstGeom prst="roundRect">
            <a:avLst>
              <a:gd name="adj" fmla="val 4651"/>
            </a:avLst>
          </a:prstGeom>
          <a:solidFill>
            <a:srgbClr val="FBF6F1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3127248"/>
            <a:ext cx="438912" cy="438912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103" y="3182551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16152" y="31455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 functions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04088" y="3639312"/>
            <a:ext cx="2295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NTILE(5) OVER(...) ranks customers into quintiles while keeping every row.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355848" y="2944368"/>
            <a:ext cx="2697480" cy="1572768"/>
          </a:xfrm>
          <a:prstGeom prst="roundRect">
            <a:avLst>
              <a:gd name="adj" fmla="val 4651"/>
            </a:avLst>
          </a:prstGeom>
          <a:solidFill>
            <a:srgbClr val="F7EFE8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538728" y="3127248"/>
            <a:ext cx="438912" cy="438912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4031" y="3182551"/>
            <a:ext cx="316017" cy="31601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69080" y="31455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CTEs (WITH … AS)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557016" y="3639312"/>
            <a:ext cx="2295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steps chained aggregate → score → segment, keeping multi-step SQL readable.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08776" y="2944368"/>
            <a:ext cx="2697480" cy="1572768"/>
          </a:xfrm>
          <a:prstGeom prst="roundRect">
            <a:avLst>
              <a:gd name="adj" fmla="val 4651"/>
            </a:avLst>
          </a:prstGeom>
          <a:solidFill>
            <a:srgbClr val="FBF6F1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91656" y="3127248"/>
            <a:ext cx="438912" cy="438912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959" y="3182551"/>
            <a:ext cx="316017" cy="31601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22008" y="31455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409944" y="3639312"/>
            <a:ext cx="22951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If/then/else mapping scores to segments; first matching WHEN wins, so order matters.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7432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MODELING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with NTILE, segmenting with CASE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F7EFE8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" y="1520647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813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→ 1–5 quintiles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9659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NTILE(5) splits customers into five equal buckets on each metric — top fifth scores 5.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13232" y="26060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NTILE(5) OVER (ORDER BY recency DESC)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NTILE(5) OVER (ORDER BY frequency ASC)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1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NTILE(5) OVER (ORDER BY monetary ASC)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85800" y="3657600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6B1E2E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65760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Recency flip:  </a:t>
            </a:r>
            <a:r>
              <a:rPr lang="en-US" sz="1000" dirty="0">
                <a:solidFill>
                  <a:srgbClr val="F0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DESC so the most-recent buyers score 5 (fewer days = better).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128016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6B1E2E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146304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3927" y="1520647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14813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→ named groups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846320" y="19659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EA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 expression maps R and F scores to business segments (first match wins):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892040" y="2542032"/>
            <a:ext cx="3611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D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R≥4 &amp; F≥4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Champions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892040" y="2834640"/>
            <a:ext cx="3611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D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F≥4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Loyal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892040" y="3127248"/>
            <a:ext cx="3611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D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R≥4 &amp; F≤3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Potential Loyalist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892040" y="3419856"/>
            <a:ext cx="3611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D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R≤2 &amp; F≥3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 Risk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892040" y="3712464"/>
            <a:ext cx="3611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D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R≤2 &amp; F≤2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Hibernating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892040" y="4005072"/>
            <a:ext cx="3611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D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Others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7432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EVALUATION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 — customers &amp; revenue by segment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484632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Rev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Recency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~1,470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Potential Loyalist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Hibernating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~1,515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458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6B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0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6B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0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6B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0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6B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385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0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A23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D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532120" y="1298448"/>
            <a:ext cx="3108960" cy="3291840"/>
          </a:xfrm>
          <a:prstGeom prst="roundRect">
            <a:avLst>
              <a:gd name="adj" fmla="val 2353"/>
            </a:avLst>
          </a:prstGeom>
          <a:solidFill>
            <a:srgbClr val="F7EFE8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15000" y="1481328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607" y="1538935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09360" y="149961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concentration insight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715000" y="2011680"/>
            <a:ext cx="2788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headcount concentrate DIFFERENTLY.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Champions: ~25% of customers but ~69% of revenue.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Hibernating: the largest group, yet nearly the smallest revenue.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Risk: the SMALLEST segment by count — yet holds revenue near the 3× larger Hibernating group.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6B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3017520"/>
            <a:ext cx="3474720" cy="3474720"/>
          </a:xfrm>
          <a:prstGeom prst="ellipse">
            <a:avLst/>
          </a:prstGeom>
          <a:solidFill>
            <a:srgbClr val="4E1521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-1280160"/>
            <a:ext cx="3291840" cy="3291840"/>
          </a:xfrm>
          <a:prstGeom prst="ellipse">
            <a:avLst/>
          </a:prstGeom>
          <a:solidFill>
            <a:srgbClr val="4E152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769" y="526329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502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recommendation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1325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the fixed retention budget on the At-Risk segment.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4E1521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222199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472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40080" y="275234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customers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20574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4E152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222199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£565K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3383280" y="275234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value at stake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35040" y="20574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4E1521"/>
          </a:solidFill>
          <a:ln/>
        </p:spPr>
      </p:sp>
      <p:sp>
        <p:nvSpPr>
          <p:cNvPr id="15" name="Text 12"/>
          <p:cNvSpPr/>
          <p:nvPr/>
        </p:nvSpPr>
        <p:spPr>
          <a:xfrm>
            <a:off x="6080760" y="222199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385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126480" y="275234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days since last order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" y="3383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them: </a:t>
            </a:r>
            <a:r>
              <a:rPr lang="en-US" sz="1250" dirty="0">
                <a:solidFill>
                  <a:srgbClr val="F1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proven, high-value buying habit that has lapsed — the highest-ROI win-back. Champions (69% of revenue) are already loyal and need no spend; Hibernating customers warrant only low-cost reactivation. Prioritise outreach by spend, highest-value first.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7432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· DEPLOYMENT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Power BI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7EFE8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99032"/>
            <a:ext cx="420624" cy="420624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67" y="1452031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37160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header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926080" y="135331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(£17M), Total Customers (5,852), At-Risk Customers (472) — the state at a glance.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02920" y="2057400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BF6F1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2176272"/>
            <a:ext cx="420624" cy="420624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367" y="2229271"/>
            <a:ext cx="302849" cy="3028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07008" y="214884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charts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926080" y="213055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Customers-by-segment and revenue-by-segment side by side — the count-vs-value contrast.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02920" y="2834640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7EFE8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" y="2953512"/>
            <a:ext cx="420624" cy="420624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367" y="3006511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07008" y="292608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At-Risk call list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2926080" y="290779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filtered, spend-ranked table of the 472 target customers — a literal retention call list.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02920" y="3611880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BF6F1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" y="3730752"/>
            <a:ext cx="420624" cy="420624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367" y="3783751"/>
            <a:ext cx="302849" cy="3028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07008" y="370332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callout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2926080" y="368503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highlighted text box stating the decision — the dashboard answers itself in 10 seconds.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742432" y="1280160"/>
            <a:ext cx="2898648" cy="3246120"/>
          </a:xfrm>
          <a:prstGeom prst="roundRect">
            <a:avLst>
              <a:gd name="adj" fmla="val 2524"/>
            </a:avLst>
          </a:prstGeom>
          <a:solidFill>
            <a:srgbClr val="6B1E2E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925312" y="146304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2919" y="1520647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92240" y="14813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Live-connected + DAX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925312" y="1965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EA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live to PostgreSQL (Import mode). Measures written in DAX: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5943600" y="2514600"/>
            <a:ext cx="2606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Revenue =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6D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SUM(monetary)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Risk Customers =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6D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CALCULATE(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6D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COUNTROWS(...),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6D0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segment="At Risk")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27432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META-SKILL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Bugs caught — and how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8138160" cy="960120"/>
          </a:xfrm>
          <a:prstGeom prst="roundRect">
            <a:avLst>
              <a:gd name="adj" fmla="val 7619"/>
            </a:avLst>
          </a:prstGeom>
          <a:solidFill>
            <a:srgbClr val="F7EFE8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99616"/>
            <a:ext cx="512064" cy="512064"/>
          </a:xfrm>
          <a:prstGeom prst="ellipse">
            <a:avLst/>
          </a:prstGeom>
          <a:solidFill>
            <a:srgbClr val="6B1E2E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499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3990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234,245 rows slipped past a filter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71600" y="17099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</a:t>
            </a:r>
            <a:r>
              <a:rPr lang="en-US" sz="10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customers loaded as '' not NULL, so IS NOT NULL removed nothing.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71600" y="19476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</a:t>
            </a:r>
            <a:r>
              <a:rPr lang="en-US" sz="1050" i="1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 mismatch (1,036,877 vs 802,632) exposed it instantly.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359152"/>
            <a:ext cx="8138160" cy="960120"/>
          </a:xfrm>
          <a:prstGeom prst="roundRect">
            <a:avLst>
              <a:gd name="adj" fmla="val 7619"/>
            </a:avLst>
          </a:prstGeom>
          <a:solidFill>
            <a:srgbClr val="F7EFE8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B1E2E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47802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Columns loaded into the wrong place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71600" y="27889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</a:t>
            </a:r>
            <a:r>
              <a:rPr lang="en-US" sz="10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columns broke name-based CSV mapping → extra columns, ours NULL.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71600" y="302666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</a:t>
            </a:r>
            <a:r>
              <a:rPr lang="en-US" sz="1050" i="1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lived in the DATA, not the layout — map by position.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438144"/>
            <a:ext cx="8138160" cy="960120"/>
          </a:xfrm>
          <a:prstGeom prst="roundRect">
            <a:avLst>
              <a:gd name="adj" fmla="val 7619"/>
            </a:avLst>
          </a:prstGeom>
          <a:solidFill>
            <a:srgbClr val="F7EFE8"/>
          </a:solidFill>
          <a:ln w="9525">
            <a:solidFill>
              <a:srgbClr val="E7DDD3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3657600"/>
            <a:ext cx="512064" cy="512064"/>
          </a:xfrm>
          <a:prstGeom prst="ellipse">
            <a:avLst/>
          </a:prstGeom>
          <a:solidFill>
            <a:srgbClr val="6B1E2E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657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71600" y="355701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“unreachable network”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71600" y="38679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</a:t>
            </a:r>
            <a:r>
              <a:rPr lang="en-US" sz="105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resolved to IPv6 (::1), which the driver couldn't reach.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371600" y="410565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</a:t>
            </a:r>
            <a:r>
              <a:rPr lang="en-US" sz="1050" i="1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127.0.0.1 (explicit IPv4) — read the error's exact wording.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6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Overarching discipline: validate every stage against an independently-computed known number.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6B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2926080"/>
            <a:ext cx="3840480" cy="3840480"/>
          </a:xfrm>
          <a:prstGeom prst="ellipse">
            <a:avLst/>
          </a:prstGeom>
          <a:solidFill>
            <a:srgbClr val="4E1521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-1463040"/>
            <a:ext cx="3657600" cy="3657600"/>
          </a:xfrm>
          <a:prstGeom prst="ellipse">
            <a:avLst/>
          </a:prstGeom>
          <a:solidFill>
            <a:srgbClr val="4E152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73" y="574353"/>
            <a:ext cx="408188" cy="4081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137160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1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front-loads understanding — “clean” and “correct” are defined before code.</a:t>
            </a:r>
            <a:endParaRPr lang="en-US" sz="1300" dirty="0"/>
          </a:p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1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is rules-based and explainable; the budget targets the valuable-but-slipping (At Risk).</a:t>
            </a:r>
            <a:endParaRPr lang="en-US" sz="1300" dirty="0"/>
          </a:p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1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SQL toolkit: staging + casting, WHERE/regex, GROUP BY, NTILE windows, CTEs, and CASE.</a:t>
            </a:r>
            <a:endParaRPr lang="en-US" sz="1300" dirty="0"/>
          </a:p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1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 is a mismatch: revenue concentrates in Champions, headcount in Hibernating.</a:t>
            </a:r>
            <a:endParaRPr lang="en-US" sz="1300" dirty="0"/>
          </a:p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1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 deliverable ends in a DECISION and an action — not just a chart.</a:t>
            </a:r>
            <a:endParaRPr lang="en-US" sz="1300" dirty="0"/>
          </a:p>
          <a:p>
            <a:pPr marL="203200" indent="-2032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1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every step against a known number — the discipline that catches silent bugs.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1855</Words>
  <Application>Microsoft Office PowerPoint</Application>
  <PresentationFormat>On-screen Show (16:9)</PresentationFormat>
  <Paragraphs>301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RFM Segmentation — Complete Project Walkthrough</dc:title>
  <dc:subject>PptxGenJS Presentation</dc:subject>
  <dc:creator>Muhammad Haidar Abdurrahman</dc:creator>
  <cp:lastModifiedBy>Muhammad Haidar Abdurrahman</cp:lastModifiedBy>
  <cp:revision>2</cp:revision>
  <dcterms:created xsi:type="dcterms:W3CDTF">2026-07-04T13:46:15Z</dcterms:created>
  <dcterms:modified xsi:type="dcterms:W3CDTF">2026-07-04T13:56:00Z</dcterms:modified>
</cp:coreProperties>
</file>